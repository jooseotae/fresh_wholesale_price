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5F2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C5F2D"/>
                </a:solidFill>
                <a:latin typeface="Calibri"/>
              </a:rPr>
              <a:t>대표품목 조회 범위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조회 가능 품목 수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1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1차 소스 (주요품목)</c:v>
                  </c:pt>
                  <c:pt idx="1">
                    <c:v>2차 소스 (품목별 가격)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1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5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3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5F2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C5F2D"/>
                </a:solidFill>
                <a:latin typeface="Calibri"/>
              </a:rPr>
              <a:t>청과 반입량 비교 (톤)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8월 21일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1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복숭아</c:v>
                  </c:pt>
                  <c:pt idx="1">
                    <c:v>포도</c:v>
                  </c:pt>
                  <c:pt idx="2">
                    <c:v>자두</c:v>
                  </c:pt>
                  <c:pt idx="3">
                    <c:v>감귤</c:v>
                  </c:pt>
                  <c:pt idx="4">
                    <c:v>딸기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381</c:v>
                </c:pt>
                <c:pt idx="1">
                  <c:v>194</c:v>
                </c:pt>
                <c:pt idx="2">
                  <c:v>54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2월 24일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1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복숭아</c:v>
                  </c:pt>
                  <c:pt idx="1">
                    <c:v>포도</c:v>
                  </c:pt>
                  <c:pt idx="2">
                    <c:v>자두</c:v>
                  </c:pt>
                  <c:pt idx="3">
                    <c:v>감귤</c:v>
                  </c:pt>
                  <c:pt idx="4">
                    <c:v>딸기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49</c:v>
                </c:pt>
                <c:pt idx="2">
                  <c:v>0</c:v>
                </c:pt>
                <c:pt idx="3">
                  <c:v>234</c:v>
                </c:pt>
                <c:pt idx="4">
                  <c:v>199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1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5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3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B75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1일 만에 P0(운영 가능한 최소 제품)를 배포하고, P1 데이터 소스까지 확보한 상태입니다.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농산 부문 · 프로젝트 현황 보고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가락시장 도매시세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데일리 대시보드 구축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매출·손실 '결과'만 보던 일일 리포트에, 그 원인인 '도매 시세'를 붙입니다.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2026-08-24 기준 · 1일차 진행 보고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서울시농수산식품공사 유통정보시스템 연동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장 요약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572768"/>
          </a:xfrm>
          <a:prstGeom prst="roundRect">
            <a:avLst>
              <a:gd name="adj" fmla="val 523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19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79종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496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시세 조회 품목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7706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당초 12종 → 6.6배 확대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600200"/>
            <a:ext cx="2606040" cy="1572768"/>
          </a:xfrm>
          <a:prstGeom prst="roundRect">
            <a:avLst>
              <a:gd name="adj" fmla="val 5233"/>
            </a:avLst>
          </a:prstGeom>
          <a:solidFill>
            <a:srgbClr val="F5F5F5"/>
          </a:solidFill>
          <a:ln w="12700">
            <a:solidFill>
              <a:srgbClr val="DDE3D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819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0" y="2496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품종 단위 가격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7706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복숭아만 33품종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1572768"/>
          </a:xfrm>
          <a:prstGeom prst="roundRect">
            <a:avLst>
              <a:gd name="adj" fmla="val 5233"/>
            </a:avLst>
          </a:prstGeom>
          <a:solidFill>
            <a:srgbClr val="F5F5F5"/>
          </a:solidFill>
          <a:ln w="12700">
            <a:solidFill>
              <a:srgbClr val="DDE3D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819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매일 14:00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46520" y="2496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갱신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7706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개입 없음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6840" y="1600200"/>
            <a:ext cx="2606040" cy="1572768"/>
          </a:xfrm>
          <a:prstGeom prst="roundRect">
            <a:avLst>
              <a:gd name="adj" fmla="val 5233"/>
            </a:avLst>
          </a:prstGeom>
          <a:solidFill>
            <a:srgbClr val="F5F5F5"/>
          </a:solidFill>
          <a:ln w="12700">
            <a:solidFill>
              <a:srgbClr val="DDE3D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0" y="1819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0원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235440" y="2496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비용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27706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무인증 공개 데이터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달라지나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6791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7008" y="382219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선행지표를 확보했습니다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4114800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매출·손실율 리포트는 이미 벌어진 결과만 보여줍니다. 도매 시세는 그 결과가 만들어지기 전에 움직입니다.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89204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91947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07008" y="487375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계절 품목이 자동으로 따라옵니다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07008" y="5166360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반입량 상위 품목을 자동 선정하므로, 복숭아·포도 철이 지나면 목록이 스스로 바뀝니다.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84048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86791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84848" y="38221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3단계로 파고들 수 있습니다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84848" y="4114800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→ 청과·채소 → 품목별 품종 단위까지. 각 단계에 검색과 그래프가 붙어 있습니다.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489204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91947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84848" y="48737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 MC 코드와 축을 맞췄습니다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784848" y="5166360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 품목을 자재그룹 코드에 매핑해 기존 리포트와 나란히 읽을 수 있습니다.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가락시장 도매시세 대시보드 · 2026-08-24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필요한가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농산팀이 매일 보는 리포트는 두 가지입니다. 둘 다 '이미 일어난 일'입니다.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56432" cy="2286000"/>
          </a:xfrm>
          <a:prstGeom prst="roundRect">
            <a:avLst>
              <a:gd name="adj" fmla="val 3600"/>
            </a:avLst>
          </a:prstGeom>
          <a:solidFill>
            <a:srgbClr val="F5F5F5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· 매출 대시보드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총매출액 · 실매출액 · 매출총이익률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부문(채소/청과/양곡) → MC 자재그룹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0832" y="2057400"/>
            <a:ext cx="3456432" cy="2286000"/>
          </a:xfrm>
          <a:prstGeom prst="roundRect">
            <a:avLst>
              <a:gd name="adj" fmla="val 3600"/>
            </a:avLst>
          </a:prstGeom>
          <a:solidFill>
            <a:srgbClr val="F5F5F5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99432" y="256032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· 손실율 대시보드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9718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· 폐기로스 · 재고차이 · 매가변경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9432" y="37033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손실율 등락 TOP10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1584" y="2057400"/>
            <a:ext cx="3456432" cy="2286000"/>
          </a:xfrm>
          <a:prstGeom prst="roundRect">
            <a:avLst>
              <a:gd name="adj" fmla="val 36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30184" y="256032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· 도매시세 대시보드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0184" y="29718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가락시장 경락가 · 반입물량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0184" y="37033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→ 품종 · 등급 단위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BEEEC"/>
          </a:solidFill>
          <a:ln w="12700">
            <a:solidFill>
              <a:srgbClr val="E8C9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B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지금의 공백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배추 도매가가 사흘째 오르고 있어도, 매가·발주를 바꿀 근거는 매출과 손실이 망가진 다음에야 숫자로 보입니다. 그 사이의 시간이 곧 손실입니다.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가락시장 도매시세 대시보드 · 2026-08-24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97280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만들었나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바탕화면 아이콘 하나. 열면 3단계로 파고듭니다.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56432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5240">
            <a:solidFill>
              <a:srgbClr val="DDE3D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1284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2311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· 전체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반입량과 부문 비중, 급등락 품목 건수를 한눈에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핵심 지표 4종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부문별 반입량 TOP10 막대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주요 품목 등락 다이버징 막대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2011680"/>
            <a:ext cx="3456432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5240">
            <a:solidFill>
              <a:srgbClr val="DDE3D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221284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22402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56632" y="22311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· 청과 / 채소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99432" y="269748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부문을 눌러 들어가면 그 부문 전 품목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99432" y="3291840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품목 검색창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반입량 TOP10 · 가격 등락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품목 전체 표 (물량·가격·전일비)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2011680"/>
            <a:ext cx="3456432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5240">
            <a:solidFill>
              <a:srgbClr val="DDE3D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30184" y="221284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8330184" y="22402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87384" y="22311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· 품목별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0184" y="269748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품목을 누르면 품종 단위까지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30184" y="3291840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품종·규격 검색창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가격 추이 · 반입량 추이 선그래프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품종별 최저·평균·최고 / 7일·1년 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2578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 방식: 지표 카드 · 가로 막대 · 다이버징 막대 · 선그래프 · 정렬 가능한 표 · 검색 필터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가락시장 도매시세 대시보드 · 2026-08-24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커버리지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당초 확보한 공개 API는 12품목 고정이었습니다. 추가 조사로 79종까지 넓혔습니다.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5852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9494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품종 단위까지 확보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4944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209품종. 복숭아 33 · 포도 6 · 자두 7품종을 각각 따로 봅니다.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94944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반입물량 3부류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4944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과일류 26 · 과일과채류 9 · 일반채소류 86품목, 톤 단위 일별.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9494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불필요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4944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데이터라 계정·인증키·비용이 들지 않습니다.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9494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소급 가능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4944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날짜를 지정해 과거 데이터를 받아올 수 있어 추이 분석이 됩니다.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가락시장 도매시세 대시보드 · 2026-08-24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97280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계절성 검증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'시즌 품목을 자동으로 따라간다'가 실제로 되는지, 서로 다른 세 시점으로 교차 확인했습니다.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6858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2011680"/>
            <a:ext cx="3566160" cy="3200400"/>
          </a:xfrm>
          <a:prstGeom prst="roundRect">
            <a:avLst>
              <a:gd name="adj" fmla="val 2571"/>
            </a:avLst>
          </a:prstGeom>
          <a:solidFill>
            <a:srgbClr val="F5F5F5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3880" y="2212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법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183880" y="25603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로직으로 뽑았는데 8월에는 복숭아·포도·자두가, 2월에는 감귤·딸기가 상위에 올라옵니다.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목록을 사람이 관리할 필요가 없다는 뜻입니다. 계절이 바뀌면 대시보드가 스스로 바뀝니다.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12월 시점으로도 한 번 더 확인했습니다 (감귤 465톤).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가락시장 도매시세 대시보드 · 2026-08-24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97280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자동 갱신 구조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경매는 당일 저녁부터 다음날 새벽에 끝납니다. 과일류 확정 시각 이후인 14:00에 한 번 돌립니다.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 w="1524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14:00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스케줄러가 자동 실행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8608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80360" y="214884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DE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· 반입물량 · 뉴스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8888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20640" y="214884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DE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DB에 이력 저장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59168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60920" y="214884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DE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파일 재작성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99448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601200" y="214884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DE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3836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3836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바탕화면 아이콘 클릭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886200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안정성 장치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29768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2511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07008" y="4279392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실패해도 화면은 살아 있음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07008" y="457200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정상 데이터를 유지하고 화면 상단에 실패 배너를 띄웁니다.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70832" y="429768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4370832" y="432511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37760" y="4279392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휴장일 자동 판별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37760" y="457200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휴장일에는 직전 거래일 값이 반복됩니다. 이를 감지해 집계에서 제외합니다.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01584" y="429768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8101584" y="432511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68512" y="4279392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재실행해도 중복 없음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668512" y="457200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날짜를 여러 번 수집해도 데이터가 어긋나지 않습니다.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가락시장 도매시세 대시보드 · 2026-08-24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현황과 다음 단계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600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0704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7620">
            <a:solidFill>
              <a:srgbClr val="DDE3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03120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305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9164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최소 운영본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21305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12품목 자동 수집 · 대시보드 · 스케줄러 · 1년치 이력 확보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60704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2432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7620">
            <a:solidFill>
              <a:srgbClr val="DD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761488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788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91640" y="2779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데이터 확대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0" y="2788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대표품목 / 209품종 · 반입물량 3부류 · 뉴스 연동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607040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28269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7620">
            <a:solidFill>
              <a:srgbClr val="DDE3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419856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4472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드릴다운 UI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0" y="34472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드릴다운 · 검색 · 5종 시각화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607040" y="34381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94106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7620">
            <a:solidFill>
              <a:srgbClr val="DDE3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078224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5E8C4A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10565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9164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양곡 거래정보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0" y="41056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백미 10kg · 주요 잡곡류. 소스 구조 확인 중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607040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59943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7620">
            <a:solidFill>
              <a:srgbClr val="DDE3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" y="4736592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5E8C4A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476402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691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가격지수 · 거래동향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0" y="47640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가락시장 가격지수, 주간 거래동향 지표 편입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6070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52578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7620">
            <a:solidFill>
              <a:srgbClr val="DDE3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" y="5394960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5E8C4A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4223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691640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 실적 결합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0" y="54223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시세와 손실율을 한 화면에서 비교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607040" y="5413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1일차 기준. 이 문서는 프로젝트 종료까지 진행에 맞춰 갱신합니다.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가락시장 도매시세 대시보드 · 2026-08-24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97280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리스크와 대응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DD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4708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API 의존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176272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공사가 사이트를 개편하면 수집이 멈출 수 있습니다.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2670048"/>
            <a:ext cx="479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실패를 화면과 로그로 즉시 알리고, 마지막 정상 데이터를 유지합니다. 호출 규약은 문서로 남겨 복구를 빠르게 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DDE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84708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품종 교체 구간의 급등락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73952" y="2176272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햇과일이 나오는 시점에 전일대비가 수백 %로 찍힙니다.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73952" y="2670048"/>
            <a:ext cx="479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오류가 아니라 실제 경락가 변화입니다. 품종 단위로 내려가 확인할 수 있게 3단계 드릴다운을 두었습니다.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DDE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9959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소물량 품목의 착시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4325112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3톤짜리 품목의 +120%는 의사결정에 도움이 안 됩니다.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818888"/>
            <a:ext cx="479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급등락 집계를 반입량 상위 30품목으로 제한해 노이즈를 걸러냅니다.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DDE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39959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이용 범위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3952" y="4325112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 고지상 계약·납품·손해배상 증빙으로는 쓸 수 없습니다.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73952" y="4818888"/>
            <a:ext cx="479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판단 참고용으로만 씁니다. 대시보드 하단에 상시 명시했습니다.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가락시장 도매시세 대시보드 · 2026-08-24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결과를 보던 리포트에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원인을 붙였습니다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703320"/>
            <a:ext cx="146304" cy="14630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비용 없이, 공개 데이터만으로 79 대표품목 · 209품종의 도매 시세를 매일 자동 확보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70248"/>
            <a:ext cx="146304" cy="14630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1788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반입량 기준 자동 선정이라 계절이 바뀌어도 사람이 품목을 관리할 필요가 없음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837176"/>
            <a:ext cx="146304" cy="14630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7457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전체에서 품종까지 3단계로 파고들 수 있어, 이상 신호의 원인을 그 자리에서 확인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보고: 양곡 거래정보 편입 및 가격지수 연동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가락시장 도매시세 대시보드 구축</dc:title>
  <dc:subject>PptxGenJS Presentation</dc:subject>
  <dc:creator>농산팀</dc:creator>
  <cp:lastModifiedBy>농산팀</cp:lastModifiedBy>
  <cp:revision>1</cp:revision>
  <dcterms:created xsi:type="dcterms:W3CDTF">2026-08-24T04:28:52Z</dcterms:created>
  <dcterms:modified xsi:type="dcterms:W3CDTF">2026-08-24T04:28:52Z</dcterms:modified>
</cp:coreProperties>
</file>